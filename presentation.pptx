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77" r:id="rId2"/>
    <p:sldId id="256" r:id="rId3"/>
    <p:sldId id="257" r:id="rId4"/>
    <p:sldId id="258" r:id="rId5"/>
    <p:sldId id="259" r:id="rId6"/>
    <p:sldId id="260" r:id="rId7"/>
    <p:sldId id="261" r:id="rId8"/>
    <p:sldId id="269" r:id="rId9"/>
    <p:sldId id="279" r:id="rId10"/>
    <p:sldId id="270" r:id="rId11"/>
    <p:sldId id="262" r:id="rId12"/>
    <p:sldId id="263" r:id="rId13"/>
    <p:sldId id="264" r:id="rId14"/>
    <p:sldId id="280" r:id="rId15"/>
    <p:sldId id="275" r:id="rId16"/>
    <p:sldId id="266" r:id="rId17"/>
    <p:sldId id="268" r:id="rId18"/>
    <p:sldId id="271" r:id="rId19"/>
    <p:sldId id="272" r:id="rId20"/>
    <p:sldId id="274" r:id="rId21"/>
    <p:sldId id="273" r:id="rId22"/>
    <p:sldId id="267" r:id="rId23"/>
    <p:sldId id="282" r:id="rId24"/>
    <p:sldId id="281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365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yracelab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DBABA"/>
                </a:solidFill>
                <a:latin typeface="Consolas"/>
              </a:rPr>
              <a:t>// BEFORE WE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315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Before we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5DBABA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</a:rPr>
              <a:t>Android — run along with 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C0CC"/>
                </a:solidFill>
                <a:latin typeface="Helvetica Neue"/>
              </a:rPr>
              <a:t>Connect to the venue Wi-Fi.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C0CC"/>
                </a:solidFill>
                <a:latin typeface="Helvetica Neue"/>
              </a:rPr>
              <a:t>Scan the QR  </a:t>
            </a:r>
            <a:r>
              <a:rPr sz="1300" b="1" i="0">
                <a:solidFill>
                  <a:srgbClr val="5DBABA"/>
                </a:solidFill>
                <a:latin typeface="Helvetica Neue"/>
              </a:rPr>
              <a:t>→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C0CC"/>
                </a:solidFill>
                <a:latin typeface="Helvetica Neue"/>
              </a:rPr>
              <a:t>Run the live build on your device.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5DBABA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</a:rPr>
              <a:t>iOS — apologies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4048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C0CC"/>
                </a:solidFill>
                <a:latin typeface="Helvetica Neue"/>
              </a:rPr>
              <a:t>Apple's strict device registration blocks ad-hoc installs.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C0CC"/>
                </a:solidFill>
                <a:latin typeface="Helvetica Neue"/>
              </a:rPr>
              <a:t>Watch on the projector — same code, same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920240"/>
            <a:ext cx="3154680" cy="2743200"/>
          </a:xfrm>
          <a:prstGeom prst="roundRect">
            <a:avLst>
              <a:gd name="adj" fmla="val 6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wifi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084832"/>
            <a:ext cx="2194560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49240" y="432511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8B95A1"/>
                </a:solidFill>
                <a:latin typeface="Helvetica Neue"/>
              </a:rPr>
              <a:t>Scan to load the app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DBABA"/>
                </a:solidFill>
                <a:latin typeface="Consolas"/>
              </a:rPr>
              <a:t>THE LABORATORY OF SPEED  ·  #LINKTHEWORLD  ·  linkecu.com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upbeat-clarke/mnt/2026-RN-Talk/presentation/link-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80960" y="320040"/>
            <a:ext cx="123444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777240"/>
            <a:ext cx="41148" cy="1508760"/>
          </a:xfrm>
          <a:prstGeom prst="rect">
            <a:avLst/>
          </a:prstGeom>
          <a:solidFill>
            <a:srgbClr val="5DBABA"/>
          </a:solidFill>
          <a:ln w="127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LIVE · 60 MIN · HANDS-ON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Modern React Native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60 Minutes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live build with Claude Code — Expo, TypeScript, TanStack Query, Zod, EAS, and the modern dev stack.</a:t>
            </a:r>
            <a:endParaRPr lang="en-US" sz="1800" dirty="0"/>
          </a:p>
        </p:txBody>
      </p:sp>
      <p:sp>
        <p:nvSpPr>
          <p:cNvPr id="20" name="Text Quote"/>
          <p:cNvSpPr/>
          <p:nvPr/>
        </p:nvSpPr>
        <p:spPr>
          <a:xfrm>
            <a:off x="82296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0" i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“Building faster is easy. Build it right is not.”</a:t>
            </a:r>
            <a:endParaRPr lang="en-US" sz="1600" i="1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Shane Zheng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95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Technical Team Lead @ Link Engine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upbeat-clarke/mnt/2026-RN-Talk/presentation/link-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863840" y="365760"/>
            <a:ext cx="1005840" cy="640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777240"/>
            <a:ext cx="41148" cy="384048"/>
          </a:xfrm>
          <a:prstGeom prst="rect">
            <a:avLst/>
          </a:prstGeom>
          <a:solidFill>
            <a:srgbClr val="5DBABA"/>
          </a:solidFill>
          <a:ln w="127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ABOUT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Shane Zheng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Built MyRaceLab since 2021 — iOS &amp; Android (</a:t>
            </a:r>
            <a:r>
              <a:rPr lang="en-US" sz="1400" u="sng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myracelab.com</a:t>
            </a: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20+ years across OOP, frontend &amp; mobile · C#, .NET, Python, TypeScript, React &amp; React Native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Always shipping, always learning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6320" y="1371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 Engine Management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46320" y="2331720"/>
            <a:ext cx="3931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World leaders in engine management — 30+ years, made in New Zealand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Wire-In &amp; Plug-In ECUs, Power Management, Dashes &amp; Accessories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Global footprint: New Zealand, Australia, Japan &amp; SEA, Middle East, UK &amp; Europe, USA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 lead the digital transformation: cloud, web &amp; mobile apps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LABORATORY OF SPEED  ·  #LINKTHEWORLD  ·  linkecu.com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 w="127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Native, then &amp; now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 ·  ~2019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 · 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Setup was a weekend project: Xcode versions, Android SDK, Java/Gradle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 was immature — ejecting was the norm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Any real native module meant touching native code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 picked Flutter instead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25146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 is the de facto way to build React Native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Managed workflow + New Architecture by default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 clients + EAS Build replace ejecting — one command, no Mac required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`bun create expo` → real device in minutes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LABORATORY OF SPEED  ·  #LINKTHEWORLD  ·  linkecu.com</a:t>
            </a:r>
            <a:endParaRPr lang="en-US" sz="900" dirty="0"/>
          </a:p>
        </p:txBody>
      </p:sp>
      <p:pic>
        <p:nvPicPr>
          <p:cNvPr id="10" name="Picture 9" descr="lin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 w="127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STACK MATURED  ·  2024 →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things matured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Compiler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846320" y="1874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Auto-memoizes components &amp; hooks at compile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Goodbye useMemo / useCallback / React.memo ceremony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Fewer re-renders, smoother UI — for free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Stable since v1.0 (Oct 2025), enabled via babel-preset-expo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25146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Old way: JS ↔ native through a JSON bridge — async, laggy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Now: direct, synchronous JS ↔ native via JSI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Fabric (concurrent renderer) + TurboModules (typed, lazy)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Default since RN 0.76 / Expo SDK 52 — always on in SDK 55+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LABORATORY OF SPEED  ·  #LINKTHEWORLD  ·  linkecu.com</a:t>
            </a:r>
            <a:endParaRPr lang="en-US" sz="900" dirty="0"/>
          </a:p>
        </p:txBody>
      </p:sp>
      <p:pic>
        <p:nvPicPr>
          <p:cNvPr id="10" name="Picture 9" descr="lin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Goodbye, async bridge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7830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42935"/>
          </a:solidFill>
          <a:ln w="9525">
            <a:solidFill>
              <a:srgbClr val="3A41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&lt;View /&gt;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7830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42935"/>
          </a:solidFill>
          <a:ln w="9525">
            <a:solidFill>
              <a:srgbClr val="3A41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&lt;View /&gt;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2402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42935"/>
          </a:solidFill>
          <a:ln w="9525">
            <a:solidFill>
              <a:srgbClr val="3A41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Renderer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22402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42935"/>
          </a:solidFill>
          <a:ln w="9525">
            <a:solidFill>
              <a:srgbClr val="3A41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Renderer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2697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42935"/>
          </a:solidFill>
          <a:ln w="22225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Async Bridge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31546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42935"/>
          </a:solidFill>
          <a:ln w="9525">
            <a:solidFill>
              <a:srgbClr val="3A41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Native Renderer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31546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42935"/>
          </a:solidFill>
          <a:ln w="9525">
            <a:solidFill>
              <a:srgbClr val="3A41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Native Renderer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71600" y="36118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42935"/>
          </a:solidFill>
          <a:ln w="9525">
            <a:solidFill>
              <a:srgbClr val="3A41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16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RCTView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0" y="36118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42935"/>
          </a:solidFill>
          <a:ln w="9525">
            <a:solidFill>
              <a:srgbClr val="3A41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RCTView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0" y="2148840"/>
            <a:ext cx="0" cy="9144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0" y="2606040"/>
            <a:ext cx="0" cy="91440"/>
          </a:xfrm>
          <a:prstGeom prst="line">
            <a:avLst/>
          </a:prstGeom>
          <a:noFill/>
          <a:ln w="12700">
            <a:solidFill>
              <a:srgbClr val="5DBAB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0" y="3063240"/>
            <a:ext cx="0" cy="91440"/>
          </a:xfrm>
          <a:prstGeom prst="line">
            <a:avLst/>
          </a:prstGeom>
          <a:noFill/>
          <a:ln w="12700">
            <a:solidFill>
              <a:srgbClr val="5DBAB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0" y="3520440"/>
            <a:ext cx="0" cy="9144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58000" y="2148840"/>
            <a:ext cx="0" cy="9144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0" y="2606040"/>
            <a:ext cx="0" cy="548640"/>
          </a:xfrm>
          <a:prstGeom prst="line">
            <a:avLst/>
          </a:prstGeom>
          <a:noFill/>
          <a:ln w="254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58000" y="3520440"/>
            <a:ext cx="0" cy="9144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18120" y="27340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4206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JS ↔ native calls were serialized to JSON, queued, and dispatched asynchronously.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206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JavaScript and native call each other directly, synchronously, via JSI.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LABORATORY OF SPEED  ·  #LINKTHEWORLD  ·  linkecu.com</a:t>
            </a:r>
            <a:endParaRPr lang="en-US" sz="900" dirty="0"/>
          </a:p>
        </p:txBody>
      </p:sp>
      <p:pic>
        <p:nvPicPr>
          <p:cNvPr id="35" name="Picture 34" descr="lin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 w="127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EXPO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 isn’t a framework — it’s a platform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LABORATORY OF SPEED  ·  #LINKTHEWORLD  ·  linkecu.com</a:t>
            </a:r>
            <a:endParaRPr lang="en-US" sz="900"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The ecosystem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78308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Config plugins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374903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Managed workflow — native config done for you</a:t>
            </a:r>
          </a:p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Expo Router — file-based, typed routes</a:t>
            </a:r>
          </a:p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100+ first-party modules — camera, location, notifications…</a:t>
            </a:r>
          </a:p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vs bare RN — skip 80% of the plumbing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23160"/>
            <a:ext cx="39319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Modify native files via a declarative config</a:t>
            </a:r>
          </a:p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Hundreds of community plugins, or write your own</a:t>
            </a:r>
          </a:p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`expo prebuild` regenerates ios/ + android/ deterministically</a:t>
            </a:r>
          </a:p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Ejecting is dead — never leave managed</a:t>
            </a:r>
          </a:p>
        </p:txBody>
      </p:sp>
      <p:pic>
        <p:nvPicPr>
          <p:cNvPr id="16" name="Picture 15" descr="lin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DBABA"/>
                </a:solidFill>
                <a:latin typeface="Consolas"/>
              </a:rPr>
              <a:t>THE LABORATORY OF SPEED  ·  #LINKTHEWORLD  ·  linkecu.com</a:t>
            </a:r>
          </a:p>
        </p:txBody>
      </p:sp>
      <p:pic>
        <p:nvPicPr>
          <p:cNvPr id="19" name="Picture 18" descr="lin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DBABA"/>
                </a:solidFill>
                <a:latin typeface="Consolas"/>
              </a:rPr>
              <a:t>// EXPO  ·  UNIVERSAL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09728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One codebase, universal platforms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103120"/>
            <a:ext cx="1794510" cy="141732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2267712"/>
            <a:ext cx="17945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 Neue"/>
              </a:rPr>
              <a:t>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816352"/>
            <a:ext cx="16116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B8C0CC"/>
                </a:solidFill>
                <a:latin typeface="Helvetica Neue"/>
              </a:rPr>
              <a:t>SwiftUI primitives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127248"/>
            <a:ext cx="161163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8B95A1"/>
                </a:solidFill>
                <a:latin typeface="Helvetica Neue"/>
              </a:rPr>
              <a:t>via Expo UI / 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08910" y="2103120"/>
            <a:ext cx="1794510" cy="141732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08910" y="2267712"/>
            <a:ext cx="17945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 Neue"/>
              </a:rPr>
              <a:t>Android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0350" y="2816352"/>
            <a:ext cx="16116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B8C0CC"/>
                </a:solidFill>
                <a:latin typeface="Helvetica Neue"/>
              </a:rPr>
              <a:t>Jetpack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0350" y="3127248"/>
            <a:ext cx="161163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8B95A1"/>
                </a:solidFill>
                <a:latin typeface="Helvetica Neue"/>
              </a:rPr>
              <a:t>via Expo UI / RN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40580" y="2103120"/>
            <a:ext cx="1794510" cy="141732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40580" y="2267712"/>
            <a:ext cx="17945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 Neue"/>
              </a:rPr>
              <a:t>Web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32020" y="2816352"/>
            <a:ext cx="16116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B8C0CC"/>
                </a:solidFill>
                <a:latin typeface="Helvetica Neue"/>
              </a:rPr>
              <a:t>DOM via RN for Web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2020" y="3127248"/>
            <a:ext cx="161163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8B95A1"/>
                </a:solidFill>
                <a:latin typeface="Helvetica Neue"/>
              </a:rPr>
              <a:t>shipped via EAS Hosting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72250" y="2103120"/>
            <a:ext cx="1794510" cy="141732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5DB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72250" y="2267712"/>
            <a:ext cx="17945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 Neue"/>
              </a:rPr>
              <a:t>Desktop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3690" y="2816352"/>
            <a:ext cx="16116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B8C0CC"/>
                </a:solidFill>
                <a:latin typeface="Helvetica Neue"/>
              </a:rPr>
              <a:t>Electron + 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3690" y="3127248"/>
            <a:ext cx="161163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8B95A1"/>
                </a:solidFill>
                <a:latin typeface="Helvetica Neue"/>
              </a:rPr>
              <a:t>shares the web build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3931920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C0CC"/>
                </a:solidFill>
                <a:latin typeface="Helvetica Neue"/>
              </a:rPr>
              <a:t>Same React code, four runtimes. </a:t>
            </a:r>
            <a:r>
              <a:rPr sz="1300" b="1" i="0">
                <a:solidFill>
                  <a:srgbClr val="5DBABA"/>
                </a:solidFill>
                <a:latin typeface="Consolas"/>
              </a:rPr>
              <a:t>react-native-web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 renders RN primitives to the DOM; </a:t>
            </a:r>
            <a:r>
              <a:rPr sz="1300" b="1" i="0">
                <a:solidFill>
                  <a:srgbClr val="5DBABA"/>
                </a:solidFill>
                <a:latin typeface="Consolas"/>
              </a:rPr>
              <a:t>Electron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 wraps that same web build for macOS, Windows, and Linux — no separate desktop codebase.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DBABA"/>
                </a:solidFill>
                <a:latin typeface="Consolas"/>
              </a:rPr>
              <a:t>// NATIVE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Three ways to talk to native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79" y="1874519"/>
            <a:ext cx="2468880" cy="260604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02082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DBABA"/>
                </a:solidFill>
                <a:latin typeface="Consolas"/>
              </a:rPr>
              <a:t>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317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React Native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34639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5DBABA"/>
                </a:solidFill>
                <a:latin typeface="Helvetica Neue"/>
              </a:rPr>
              <a:t>· 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Obj-C / Java / Kotlin / Swift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5DBABA"/>
                </a:solidFill>
                <a:latin typeface="Helvetica Neue"/>
              </a:rPr>
              <a:t>· 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Originally async-only via the bridge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5DBABA"/>
                </a:solidFill>
                <a:latin typeface="Helvetica Neue"/>
              </a:rPr>
              <a:t>· 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Now JSI / Turbo — legacy patterns still common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0233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5A1"/>
                </a:solidFill>
                <a:latin typeface="Helvetica Neue"/>
              </a:rPr>
              <a:t>What most existing libs ship.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59" y="1874519"/>
            <a:ext cx="2468880" cy="260604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5DB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39" y="202082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DBABA"/>
                </a:solidFill>
                <a:latin typeface="Consolas"/>
              </a:rPr>
              <a:t>JSI-DIRECT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23317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Nitro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2834639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5DBABA"/>
                </a:solidFill>
                <a:latin typeface="Helvetica Neue"/>
              </a:rPr>
              <a:t>· 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Direct JS ↔ native — no bridge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5DBABA"/>
                </a:solidFill>
                <a:latin typeface="Helvetica Neue"/>
              </a:rPr>
              <a:t>· 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C++ codegen from a TypeScript spec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5DBABA"/>
                </a:solidFill>
                <a:latin typeface="Helvetica Neue"/>
              </a:rPr>
              <a:t>· 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Synchronous when you need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40233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5A1"/>
                </a:solidFill>
                <a:latin typeface="Helvetica Neue"/>
              </a:rPr>
              <a:t>Powers Unistyles v3, MMKV.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874519"/>
            <a:ext cx="2468880" cy="260604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5DB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202082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DBABA"/>
                </a:solidFill>
                <a:latin typeface="Consolas"/>
              </a:rPr>
              <a:t>TYPESCRIPT-FIRST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317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Expo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834639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5DBABA"/>
                </a:solidFill>
                <a:latin typeface="Helvetica Neue"/>
              </a:rPr>
              <a:t>· 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Modern Swift / Kotlin API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5DBABA"/>
                </a:solidFill>
                <a:latin typeface="Helvetica Neue"/>
              </a:rPr>
              <a:t>· 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Regenerated by  expo prebuild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5DBABA"/>
                </a:solidFill>
                <a:latin typeface="Helvetica Neue"/>
              </a:rPr>
              <a:t>· 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Easier ergonomics, less boilerplate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0233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5A1"/>
                </a:solidFill>
                <a:latin typeface="Helvetica Neue"/>
              </a:rPr>
              <a:t>What Expo SDK is built 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17720"/>
            <a:ext cx="7863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8B95A1"/>
                </a:solidFill>
                <a:latin typeface="Helvetica Neue"/>
              </a:rPr>
              <a:t>Different tools for different jobs — all three coexist in a modern RN app.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DBABA"/>
                </a:solidFill>
                <a:latin typeface="Consolas"/>
              </a:rPr>
              <a:t>THE LABORATORY OF SPEED  ·  #LINKTHEWORLD  ·  linkecu.com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DBABA"/>
                </a:solidFill>
                <a:latin typeface="Consolas"/>
              </a:rPr>
              <a:t>// 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Expo Application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79" y="19659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103120"/>
            <a:ext cx="2139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EAS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468880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B8C0CC"/>
                </a:solidFill>
                <a:latin typeface="Helvetica Neue"/>
              </a:rPr>
              <a:t>Cloud iOS + Android binaries.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743200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5A1"/>
                </a:solidFill>
                <a:latin typeface="Helvetica Neue"/>
              </a:rPr>
              <a:t>No Mac, no Xcode, no Android Studio.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59" y="19659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02151" y="2103120"/>
            <a:ext cx="2139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EAS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1" y="2468880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B8C0CC"/>
                </a:solidFill>
                <a:latin typeface="Helvetica Neue"/>
              </a:rPr>
              <a:t>Push to TestFlight + Play.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1" y="2743200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5A1"/>
                </a:solidFill>
                <a:latin typeface="Helvetica Neue"/>
              </a:rPr>
              <a:t>One command, no manual store 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9659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1" y="2103120"/>
            <a:ext cx="2139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EAS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1" y="2468880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B8C0CC"/>
                </a:solidFill>
                <a:latin typeface="Helvetica Neue"/>
              </a:rPr>
              <a:t>Over-the-air JS updates.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2743200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5A1"/>
                </a:solidFill>
                <a:latin typeface="Helvetica Neue"/>
              </a:rPr>
              <a:t>Skip the app-store roundtrip.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79" y="329184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3429000"/>
            <a:ext cx="2139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EAS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794760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B8C0CC"/>
                </a:solidFill>
                <a:latin typeface="Helvetica Neue"/>
              </a:rPr>
              <a:t>CI/CD inside Expo.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069080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5A1"/>
                </a:solidFill>
                <a:latin typeface="Helvetica Neue"/>
              </a:rPr>
              <a:t>Build, test, submit — orchestrated.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59" y="329184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02151" y="3429000"/>
            <a:ext cx="2139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EAS 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1" y="3794760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B8C0CC"/>
                </a:solidFill>
                <a:latin typeface="Helvetica Neue"/>
              </a:rPr>
              <a:t>Host your Expo web build.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1" y="4069080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5A1"/>
                </a:solidFill>
                <a:latin typeface="Helvetica Neue"/>
              </a:rPr>
              <a:t>Static + SSR, with previews.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29184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5DB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9631" y="3401568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DBABA"/>
                </a:solidFill>
                <a:latin typeface="Consolas"/>
              </a:rPr>
              <a:t>// PRIVATE PREVIEW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1" y="3675888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EAS Metadata</a:t>
            </a:r>
          </a:p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EAS Insights</a:t>
            </a:r>
          </a:p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EAS Observe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DBABA"/>
                </a:solidFill>
                <a:latin typeface="Consolas"/>
              </a:rPr>
              <a:t>THE LABORATORY OF SPEED  ·  #LINKTHEWORLD  ·  linkecu.com</a:t>
            </a:r>
          </a:p>
        </p:txBody>
      </p:sp>
      <p:pic>
        <p:nvPicPr>
          <p:cNvPr id="29" name="Picture 28" descr="lin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TOOLCHAIN  ·  1 /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modern frontend toolchain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6576" cy="914400"/>
          </a:xfrm>
          <a:prstGeom prst="rect">
            <a:avLst/>
          </a:prstGeom>
          <a:solidFill>
            <a:srgbClr val="5DBABA"/>
          </a:solidFill>
          <a:ln w="127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270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Q: </a:t>
            </a: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do you manage Node?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A: </a:t>
            </a: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Volta</a:t>
            </a:r>
            <a:r>
              <a:rPr lang="en-US" sz="1800" dirty="0">
                <a:solidFill>
                  <a:srgbClr val="8B95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pinned via package.json, no shell shims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6576" cy="914400"/>
          </a:xfrm>
          <a:prstGeom prst="rect">
            <a:avLst/>
          </a:prstGeom>
          <a:solidFill>
            <a:srgbClr val="5DBABA"/>
          </a:solidFill>
          <a:ln w="127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Q: </a:t>
            </a: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deps aren’t pulling their weight?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449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A: </a:t>
            </a: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Knip</a:t>
            </a:r>
            <a:r>
              <a:rPr lang="en-US" sz="1800" dirty="0">
                <a:solidFill>
                  <a:srgbClr val="8B95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finds unused exports, files &amp; dependencies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36576" cy="914400"/>
          </a:xfrm>
          <a:prstGeom prst="rect">
            <a:avLst/>
          </a:prstGeom>
          <a:solidFill>
            <a:srgbClr val="5DBABA"/>
          </a:solidFill>
          <a:ln w="127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7216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Q: </a:t>
            </a: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Versions drifting across the workspace?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1422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A: </a:t>
            </a: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Syncpack</a:t>
            </a:r>
            <a:r>
              <a:rPr lang="en-US" sz="1800" dirty="0">
                <a:solidFill>
                  <a:srgbClr val="8B95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one source of truth for every package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LABORATORY OF SPEED  ·  #LINKTHEWORLD  ·  linkecu.com</a:t>
            </a:r>
            <a:endParaRPr lang="en-US" sz="900" dirty="0"/>
          </a:p>
        </p:txBody>
      </p:sp>
      <p:pic>
        <p:nvPicPr>
          <p:cNvPr id="18" name="Picture 17" descr="lin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TOOLCHAIN  ·  2 /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modern frontend toolchain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6576" cy="914400"/>
          </a:xfrm>
          <a:prstGeom prst="rect">
            <a:avLst/>
          </a:prstGeom>
          <a:solidFill>
            <a:srgbClr val="5DBABA"/>
          </a:solidFill>
          <a:ln w="127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270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Q: </a:t>
            </a: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Format + lint, in one fast tool?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A: </a:t>
            </a: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Biome</a:t>
            </a:r>
            <a:r>
              <a:rPr lang="en-US" sz="1800" dirty="0">
                <a:solidFill>
                  <a:srgbClr val="8B95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single Rust binary, ~25× ESLint + Prettier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6576" cy="914400"/>
          </a:xfrm>
          <a:prstGeom prst="rect">
            <a:avLst/>
          </a:prstGeom>
          <a:solidFill>
            <a:srgbClr val="5DBABA"/>
          </a:solidFill>
          <a:ln w="127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Q: </a:t>
            </a: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 why is ESLint still here?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449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A: </a:t>
            </a: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Compiler check</a:t>
            </a:r>
            <a:r>
              <a:rPr lang="en-US" sz="1800" dirty="0">
                <a:solidFill>
                  <a:srgbClr val="8B95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mobile-only, StrictMode required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36576" cy="914400"/>
          </a:xfrm>
          <a:prstGeom prst="rect">
            <a:avLst/>
          </a:prstGeom>
          <a:solidFill>
            <a:srgbClr val="5DBABA"/>
          </a:solidFill>
          <a:ln w="127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7216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Q: </a:t>
            </a: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bad commits out?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1422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A: </a:t>
            </a: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Lefthook</a:t>
            </a:r>
            <a:r>
              <a:rPr lang="en-US" sz="1800" dirty="0">
                <a:solidFill>
                  <a:srgbClr val="8B95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parallel pre-commit hooks, no Husky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LABORATORY OF SPEED  ·  #LINKTHEWORLD  ·  linkecu.com</a:t>
            </a:r>
            <a:endParaRPr lang="en-US" sz="900" dirty="0"/>
          </a:p>
        </p:txBody>
      </p:sp>
      <p:pic>
        <p:nvPicPr>
          <p:cNvPr id="18" name="Picture 17" descr="lin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 w="127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UI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Native UI, finally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UNTIL ~2025  ·  PICK A LIB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2026  ·  NATIVE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Tamagui — design system + compiler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Gluestack UI — accessible primitives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NativeWind — Tailwind on RN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Native Paper — Material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246888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iOS  →  SwiftUI components, natively rendered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Android  →  Jetpack Compose, natively rendered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React code, real platform primitives underneath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True platform look &amp; feel — not an approximation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LABORATORY OF SPEED  ·  #LINKTHEWORLD  ·  linkecu.com</a:t>
            </a:r>
            <a:endParaRPr lang="en-US" sz="900" dirty="0"/>
          </a:p>
        </p:txBody>
      </p:sp>
      <p:pic>
        <p:nvPicPr>
          <p:cNvPr id="10" name="Picture 9" descr="lin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DBABA"/>
                </a:solidFill>
                <a:latin typeface="Consolas"/>
              </a:rPr>
              <a:t>// STYLING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Style without re-renders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nsolas"/>
              </a:rPr>
              <a:t>react-native-unistyles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38404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No re-renders on theme / breakpoint change</a:t>
            </a:r>
          </a:p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Variants &amp; themes resolved at compile time</a:t>
            </a:r>
          </a:p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Native + Web — one styling system</a:t>
            </a:r>
          </a:p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Drop-in StyleSheet API, typed tokens</a:t>
            </a:r>
          </a:p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Powered by Nitro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874519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Themed, variant-aware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331720"/>
            <a:ext cx="3840480" cy="228600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7863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8B95A1"/>
                </a:solidFill>
                <a:latin typeface="Helvetica Neue"/>
              </a:rPr>
              <a:t>What our CLAUDE.md mandates — no inline styles, no hardcoded colours.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DBABA"/>
                </a:solidFill>
                <a:latin typeface="Consolas"/>
              </a:rPr>
              <a:t>THE LABORATORY OF SPEED  ·  #LINKTHEWORLD  ·  linkecu.com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423160"/>
            <a:ext cx="3749039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95A1"/>
                </a:solidFill>
                <a:latin typeface="Consolas"/>
              </a:rPr>
              <a:t>const </a:t>
            </a:r>
            <a:r>
              <a:rPr sz="900" b="1" i="0">
                <a:solidFill>
                  <a:srgbClr val="FFFFFF"/>
                </a:solidFill>
                <a:latin typeface="Consolas"/>
              </a:rPr>
              <a:t>styles </a:t>
            </a:r>
            <a:r>
              <a:rPr sz="900" b="0" i="0">
                <a:solidFill>
                  <a:srgbClr val="8B95A1"/>
                </a:solidFill>
                <a:latin typeface="Consolas"/>
              </a:rPr>
              <a:t>= </a:t>
            </a:r>
            <a:r>
              <a:rPr sz="900" b="1" i="0">
                <a:solidFill>
                  <a:srgbClr val="FFFFFF"/>
                </a:solidFill>
                <a:latin typeface="Consolas"/>
              </a:rPr>
              <a:t>StyleSheet</a:t>
            </a:r>
            <a:r>
              <a:rPr sz="900" b="0" i="0">
                <a:solidFill>
                  <a:srgbClr val="B8C0CC"/>
                </a:solidFill>
                <a:latin typeface="Consolas"/>
              </a:rPr>
              <a:t>.create(</a:t>
            </a:r>
            <a:r>
              <a:rPr sz="900" b="0" i="0">
                <a:solidFill>
                  <a:srgbClr val="5DBABA"/>
                </a:solidFill>
                <a:latin typeface="Consolas"/>
              </a:rPr>
              <a:t>theme</a:t>
            </a:r>
            <a:r>
              <a:rPr sz="900" b="0" i="0">
                <a:solidFill>
                  <a:srgbClr val="B8C0CC"/>
                </a:solidFill>
                <a:latin typeface="Consolas"/>
              </a:rPr>
              <a:t> =&gt; ({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8C0CC"/>
                </a:solidFill>
                <a:latin typeface="Consolas"/>
              </a:rPr>
              <a:t>  card: {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8C0CC"/>
                </a:solidFill>
                <a:latin typeface="Consolas"/>
              </a:rPr>
              <a:t>    padding: </a:t>
            </a:r>
            <a:r>
              <a:rPr sz="900" b="0" i="0">
                <a:solidFill>
                  <a:srgbClr val="5DBABA"/>
                </a:solidFill>
                <a:latin typeface="Consolas"/>
              </a:rPr>
              <a:t>theme</a:t>
            </a:r>
            <a:r>
              <a:rPr sz="900" b="0" i="0">
                <a:solidFill>
                  <a:srgbClr val="B8C0CC"/>
                </a:solidFill>
                <a:latin typeface="Consolas"/>
              </a:rPr>
              <a:t>.spacing.md,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8C0CC"/>
                </a:solidFill>
                <a:latin typeface="Consolas"/>
              </a:rPr>
              <a:t>    variants: { tone: {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8C0CC"/>
                </a:solidFill>
                <a:latin typeface="Consolas"/>
              </a:rPr>
              <a:t>      primary: { backgroundColor: </a:t>
            </a:r>
            <a:r>
              <a:rPr sz="900" b="0" i="0">
                <a:solidFill>
                  <a:srgbClr val="5DBABA"/>
                </a:solidFill>
                <a:latin typeface="Consolas"/>
              </a:rPr>
              <a:t>theme</a:t>
            </a:r>
            <a:r>
              <a:rPr sz="900" b="0" i="0">
                <a:solidFill>
                  <a:srgbClr val="B8C0CC"/>
                </a:solidFill>
                <a:latin typeface="Consolas"/>
              </a:rPr>
              <a:t>.colors.accent },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8C0CC"/>
                </a:solidFill>
                <a:latin typeface="Consolas"/>
              </a:rPr>
              <a:t>      muted:   { backgroundColor: </a:t>
            </a:r>
            <a:r>
              <a:rPr sz="900" b="0" i="0">
                <a:solidFill>
                  <a:srgbClr val="5DBABA"/>
                </a:solidFill>
                <a:latin typeface="Consolas"/>
              </a:rPr>
              <a:t>theme</a:t>
            </a:r>
            <a:r>
              <a:rPr sz="900" b="0" i="0">
                <a:solidFill>
                  <a:srgbClr val="B8C0CC"/>
                </a:solidFill>
                <a:latin typeface="Consolas"/>
              </a:rPr>
              <a:t>.colors.subtle },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8C0CC"/>
                </a:solidFill>
                <a:latin typeface="Consolas"/>
              </a:rPr>
              <a:t>    }},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8C0CC"/>
                </a:solidFill>
                <a:latin typeface="Consolas"/>
              </a:rPr>
              <a:t>  },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8C0CC"/>
                </a:solidFill>
                <a:latin typeface="Consolas"/>
              </a:rPr>
              <a:t>}));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DBABA"/>
                </a:solidFill>
                <a:latin typeface="Consolas"/>
              </a:rPr>
              <a:t>// PLATFORM-SPECIFIC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680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When platforms diverge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</a:rPr>
              <a:t>Inline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840480" cy="2286000"/>
          </a:xfrm>
          <a:prstGeom prst="roundRect">
            <a:avLst>
              <a:gd name="adj" fmla="val 6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566160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5A1"/>
                </a:solidFill>
                <a:latin typeface="Consolas"/>
              </a:rPr>
              <a:t>import </a:t>
            </a:r>
            <a:r>
              <a:rPr sz="1100" b="1" i="0">
                <a:solidFill>
                  <a:srgbClr val="FFFFFF"/>
                </a:solidFill>
                <a:latin typeface="Consolas"/>
              </a:rPr>
              <a:t>{ Platform } </a:t>
            </a:r>
            <a:r>
              <a:rPr sz="1100" b="0" i="0">
                <a:solidFill>
                  <a:srgbClr val="8B95A1"/>
                </a:solidFill>
                <a:latin typeface="Consolas"/>
              </a:rPr>
              <a:t>from </a:t>
            </a:r>
            <a:r>
              <a:rPr sz="1100" b="0" i="0">
                <a:solidFill>
                  <a:srgbClr val="5DBABA"/>
                </a:solidFill>
                <a:latin typeface="Consolas"/>
              </a:rPr>
              <a:t>'react-native'</a:t>
            </a:r>
            <a:r>
              <a:rPr sz="1100" b="0" i="0">
                <a:solidFill>
                  <a:srgbClr val="8B95A1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5A1"/>
                </a:solidFill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5DBABA"/>
                </a:solidFill>
                <a:latin typeface="Consolas"/>
              </a:rPr>
              <a:t>if </a:t>
            </a:r>
            <a:r>
              <a:rPr sz="1100" b="0" i="0">
                <a:solidFill>
                  <a:srgbClr val="B8C0CC"/>
                </a:solidFill>
                <a:latin typeface="Consolas"/>
              </a:rPr>
              <a:t>(</a:t>
            </a:r>
            <a:r>
              <a:rPr sz="1100" b="1" i="0">
                <a:solidFill>
                  <a:srgbClr val="FFFFFF"/>
                </a:solidFill>
                <a:latin typeface="Consolas"/>
              </a:rPr>
              <a:t>Platform</a:t>
            </a:r>
            <a:r>
              <a:rPr sz="1100" b="0" i="0">
                <a:solidFill>
                  <a:srgbClr val="B8C0CC"/>
                </a:solidFill>
                <a:latin typeface="Consolas"/>
              </a:rPr>
              <a:t>.OS === </a:t>
            </a:r>
            <a:r>
              <a:rPr sz="1100" b="0" i="0">
                <a:solidFill>
                  <a:srgbClr val="5DBABA"/>
                </a:solidFill>
                <a:latin typeface="Consolas"/>
              </a:rPr>
              <a:t>'ios'</a:t>
            </a:r>
            <a:r>
              <a:rPr sz="1100" b="0" i="0">
                <a:solidFill>
                  <a:srgbClr val="B8C0CC"/>
                </a:solidFill>
                <a:latin typeface="Consolas"/>
              </a:rPr>
              <a:t>) { ... }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5A1"/>
                </a:solidFill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5A1"/>
                </a:solidFill>
                <a:latin typeface="Consolas"/>
              </a:rPr>
              <a:t>const </a:t>
            </a:r>
            <a:r>
              <a:rPr sz="1100" b="1" i="0">
                <a:solidFill>
                  <a:srgbClr val="FFFFFF"/>
                </a:solidFill>
                <a:latin typeface="Consolas"/>
              </a:rPr>
              <a:t>padding </a:t>
            </a:r>
            <a:r>
              <a:rPr sz="1100" b="0" i="0">
                <a:solidFill>
                  <a:srgbClr val="8B95A1"/>
                </a:solidFill>
                <a:latin typeface="Consolas"/>
              </a:rPr>
              <a:t>= </a:t>
            </a:r>
            <a:r>
              <a:rPr sz="1100" b="1" i="0">
                <a:solidFill>
                  <a:srgbClr val="FFFFFF"/>
                </a:solidFill>
                <a:latin typeface="Consolas"/>
              </a:rPr>
              <a:t>Platform</a:t>
            </a:r>
            <a:r>
              <a:rPr sz="1100" b="0" i="0">
                <a:solidFill>
                  <a:srgbClr val="B8C0CC"/>
                </a:solidFill>
                <a:latin typeface="Consolas"/>
              </a:rPr>
              <a:t>.select({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8C0CC"/>
                </a:solidFill>
                <a:latin typeface="Consolas"/>
              </a:rPr>
              <a:t>  ios: </a:t>
            </a:r>
            <a:r>
              <a:rPr sz="1100" b="0" i="0">
                <a:solidFill>
                  <a:srgbClr val="5DBABA"/>
                </a:solidFill>
                <a:latin typeface="Consolas"/>
              </a:rPr>
              <a:t>16</a:t>
            </a:r>
            <a:r>
              <a:rPr sz="1100" b="0" i="0">
                <a:solidFill>
                  <a:srgbClr val="B8C0CC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8C0CC"/>
                </a:solidFill>
                <a:latin typeface="Consolas"/>
              </a:rPr>
              <a:t>  android: </a:t>
            </a:r>
            <a:r>
              <a:rPr sz="1100" b="0" i="0">
                <a:solidFill>
                  <a:srgbClr val="5DBABA"/>
                </a:solidFill>
                <a:latin typeface="Consolas"/>
              </a:rPr>
              <a:t>12</a:t>
            </a:r>
            <a:r>
              <a:rPr sz="1100" b="0" i="0">
                <a:solidFill>
                  <a:srgbClr val="B8C0CC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8C0CC"/>
                </a:solidFill>
                <a:latin typeface="Consolas"/>
              </a:rPr>
              <a:t>  web: </a:t>
            </a:r>
            <a:r>
              <a:rPr sz="1100" b="0" i="0">
                <a:solidFill>
                  <a:srgbClr val="5DBABA"/>
                </a:solidFill>
                <a:latin typeface="Consolas"/>
              </a:rPr>
              <a:t>24</a:t>
            </a:r>
            <a:r>
              <a:rPr sz="1100" b="0" i="0">
                <a:solidFill>
                  <a:srgbClr val="B8C0CC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8C0CC"/>
                </a:solidFill>
                <a:latin typeface="Consolas"/>
              </a:rPr>
              <a:t>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74519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</a:rPr>
              <a:t>Per-platform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331720"/>
            <a:ext cx="3840480" cy="2286000"/>
          </a:xfrm>
          <a:prstGeom prst="roundRect">
            <a:avLst>
              <a:gd name="adj" fmla="val 6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2468880"/>
            <a:ext cx="3566160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</a:rPr>
              <a:t>components/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5A1"/>
                </a:solidFill>
                <a:latin typeface="Consolas"/>
              </a:rPr>
              <a:t>├── </a:t>
            </a:r>
            <a:r>
              <a:rPr sz="1100" b="0" i="0">
                <a:solidFill>
                  <a:srgbClr val="B8C0CC"/>
                </a:solidFill>
                <a:latin typeface="Consolas"/>
              </a:rPr>
              <a:t>Button.tsx</a:t>
            </a:r>
            <a:r>
              <a:rPr sz="1100" b="0" i="0">
                <a:solidFill>
                  <a:srgbClr val="8B95A1"/>
                </a:solidFill>
                <a:latin typeface="Consolas"/>
              </a:rPr>
              <a:t>            </a:t>
            </a:r>
            <a:r>
              <a:rPr sz="1100" b="1" i="0">
                <a:solidFill>
                  <a:srgbClr val="8B95A1"/>
                </a:solidFill>
                <a:latin typeface="Consolas"/>
              </a:rPr>
              <a:t># default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5A1"/>
                </a:solidFill>
                <a:latin typeface="Consolas"/>
              </a:rPr>
              <a:t>├── </a:t>
            </a:r>
            <a:r>
              <a:rPr sz="1100" b="1" i="0">
                <a:solidFill>
                  <a:srgbClr val="5DBABA"/>
                </a:solidFill>
                <a:latin typeface="Consolas"/>
              </a:rPr>
              <a:t>Button.ios.tsx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5A1"/>
                </a:solidFill>
                <a:latin typeface="Consolas"/>
              </a:rPr>
              <a:t>├── </a:t>
            </a:r>
            <a:r>
              <a:rPr sz="1100" b="1" i="0">
                <a:solidFill>
                  <a:srgbClr val="5DBABA"/>
                </a:solidFill>
                <a:latin typeface="Consolas"/>
              </a:rPr>
              <a:t>Button.android.tsx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5A1"/>
                </a:solidFill>
                <a:latin typeface="Consolas"/>
              </a:rPr>
              <a:t>└── </a:t>
            </a:r>
            <a:r>
              <a:rPr sz="1100" b="1" i="0">
                <a:solidFill>
                  <a:srgbClr val="5DBABA"/>
                </a:solidFill>
                <a:latin typeface="Consolas"/>
              </a:rPr>
              <a:t>Button.web.tsx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5A1"/>
                </a:solidFill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8B95A1"/>
                </a:solidFill>
                <a:latin typeface="Consolas"/>
              </a:rPr>
              <a:t>// Metro picks the right file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5A1"/>
                </a:solidFill>
                <a:latin typeface="Consolas"/>
              </a:rPr>
              <a:t>import </a:t>
            </a:r>
            <a:r>
              <a:rPr sz="1100" b="1" i="0">
                <a:solidFill>
                  <a:srgbClr val="FFFFFF"/>
                </a:solidFill>
                <a:latin typeface="Consolas"/>
              </a:rPr>
              <a:t>Button </a:t>
            </a:r>
            <a:r>
              <a:rPr sz="1100" b="0" i="0">
                <a:solidFill>
                  <a:srgbClr val="8B95A1"/>
                </a:solidFill>
                <a:latin typeface="Consolas"/>
              </a:rPr>
              <a:t>from </a:t>
            </a:r>
            <a:r>
              <a:rPr sz="1100" b="0" i="0">
                <a:solidFill>
                  <a:srgbClr val="5DBABA"/>
                </a:solidFill>
                <a:latin typeface="Consolas"/>
              </a:rPr>
              <a:t>'./Button'</a:t>
            </a:r>
            <a:r>
              <a:rPr sz="1100" b="0" i="0">
                <a:solidFill>
                  <a:srgbClr val="8B95A1"/>
                </a:solidFill>
                <a:latin typeface="Consolas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7863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Inline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for small differences. </a:t>
            </a:r>
            <a:r>
              <a:rPr sz="1100" b="1" i="0">
                <a:solidFill>
                  <a:srgbClr val="FFFFFF"/>
                </a:solidFill>
                <a:latin typeface="Helvetica Neue"/>
              </a:rPr>
              <a:t>Per-file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when the implementations are genuinely different per platform.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DBABA"/>
                </a:solidFill>
                <a:latin typeface="Consolas"/>
              </a:rPr>
              <a:t>THE LABORATORY OF SPEED  ·  #LINKTHEWORLD  ·  linkecu.com</a:t>
            </a:r>
          </a:p>
        </p:txBody>
      </p:sp>
      <p:pic>
        <p:nvPicPr>
          <p:cNvPr id="13" name="Picture 12" descr="lin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 w="127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we’re building, live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329184" cy="329184"/>
          </a:xfrm>
          <a:prstGeom prst="roundRect">
            <a:avLst>
              <a:gd name="adj" fmla="val 16667"/>
            </a:avLst>
          </a:prstGeom>
          <a:ln w="254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23500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Native bottom tabs</a:t>
            </a:r>
            <a:r>
              <a:rPr lang="en-US" sz="1800" dirty="0">
                <a:solidFill>
                  <a:srgbClr val="8B95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—  with the iOS Liquid Glass effect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329184" cy="329184"/>
          </a:xfrm>
          <a:prstGeom prst="roundRect">
            <a:avLst>
              <a:gd name="adj" fmla="val 16667"/>
            </a:avLst>
          </a:prstGeom>
          <a:ln w="254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5880" y="30358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react-native-unistyles, set up properly</a:t>
            </a:r>
            <a:r>
              <a:rPr lang="en-US" sz="1800" dirty="0">
                <a:solidFill>
                  <a:srgbClr val="8B95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—  config, theme, variants — production wiring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329184" cy="329184"/>
          </a:xfrm>
          <a:prstGeom prst="roundRect">
            <a:avLst>
              <a:gd name="adj" fmla="val 16667"/>
            </a:avLst>
          </a:prstGeom>
          <a:ln w="254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37216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few components</a:t>
            </a:r>
            <a:r>
              <a:rPr lang="en-US" sz="1800" dirty="0">
                <a:solidFill>
                  <a:srgbClr val="8B95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—  Expo UI primitives + Unistyles styling, working together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LABORATORY OF SPEED  ·  #LINKTHEWORLD  ·  linkecu.com</a:t>
            </a:r>
            <a:endParaRPr lang="en-US" sz="900" dirty="0"/>
          </a:p>
        </p:txBody>
      </p:sp>
      <p:pic>
        <p:nvPicPr>
          <p:cNvPr id="12" name="Picture 11" descr="lin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DBABA"/>
                </a:solidFill>
                <a:latin typeface="Consolas"/>
              </a:rPr>
              <a:t>// EXPO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File-based, typed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0233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File-based routing — Next.js model</a:t>
            </a:r>
          </a:p>
          <a:p>
            <a:pPr algn="l">
              <a:lnSpc>
                <a:spcPct val="16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Typed routes — compile-time link safety</a:t>
            </a:r>
          </a:p>
          <a:p>
            <a:pPr algn="l">
              <a:lnSpc>
                <a:spcPct val="16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Stack / tabs / drawer — first-class layouts</a:t>
            </a:r>
          </a:p>
          <a:p>
            <a:pPr algn="l">
              <a:lnSpc>
                <a:spcPct val="16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Deep linking — universal URLs</a:t>
            </a:r>
          </a:p>
          <a:p>
            <a:pPr algn="l">
              <a:lnSpc>
                <a:spcPct val="16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Same routes on iOS, Android, and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10312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49240" y="2286000"/>
            <a:ext cx="32918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</a:rPr>
              <a:t>app/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8C0CC"/>
                </a:solidFill>
                <a:latin typeface="Consolas"/>
              </a:rPr>
              <a:t>├── _layout.tsx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8C0CC"/>
                </a:solidFill>
                <a:latin typeface="Consolas"/>
              </a:rPr>
              <a:t>├── (tabs)/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8C0CC"/>
                </a:solidFill>
                <a:latin typeface="Consolas"/>
              </a:rPr>
              <a:t>│   ├── _layout.tsx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8C0CC"/>
                </a:solidFill>
                <a:latin typeface="Consolas"/>
              </a:rPr>
              <a:t>│   ├── index.tsx       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8C0CC"/>
                </a:solidFill>
                <a:latin typeface="Consolas"/>
              </a:rPr>
              <a:t>│   └── settings.tsx    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DBABA"/>
                </a:solidFill>
                <a:latin typeface="Consolas"/>
              </a:rPr>
              <a:t>└── repo/[id].tsx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DBABA"/>
                </a:solidFill>
                <a:latin typeface="Consolas"/>
              </a:rPr>
              <a:t>THE LABORATORY OF SPEED  ·  #LINKTHEWORLD  ·  linkecu.com</a:t>
            </a:r>
          </a:p>
        </p:txBody>
      </p:sp>
      <p:pic>
        <p:nvPicPr>
          <p:cNvPr id="9" name="Picture 8" descr="lin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DBABA"/>
                </a:solidFill>
                <a:latin typeface="Consolas"/>
              </a:rPr>
              <a:t>// CLIENT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From Redux to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DBABA"/>
                </a:solidFill>
                <a:latin typeface="Consolas"/>
              </a:rPr>
              <a:t>THE LABORATORY OF SPEED  ·  #LINKTHEWORLD  ·  linkecu.com</a:t>
            </a:r>
          </a:p>
        </p:txBody>
      </p:sp>
      <p:pic>
        <p:nvPicPr>
          <p:cNvPr id="22" name="Picture 21" descr="lin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40079" y="1874519"/>
            <a:ext cx="2468880" cy="260604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2020824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DBABA"/>
                </a:solidFill>
                <a:latin typeface="Consolas"/>
              </a:rPr>
              <a:t>2015 → 2020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2331720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Redux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2834639"/>
            <a:ext cx="213969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B8C0CC"/>
                </a:solidFill>
                <a:latin typeface="Helvetica Neue"/>
              </a:rPr>
              <a:t>Actions, reducers, dispatch, connect, providers — a lot of ceremony for not much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3977639"/>
            <a:ext cx="2139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8B95A1"/>
                </a:solidFill>
                <a:latin typeface="Helvetica Neue"/>
              </a:rPr>
              <a:t>The standard, for the wrong reasons.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59" y="1874519"/>
            <a:ext cx="2468880" cy="260604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02151" y="2020824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DBABA"/>
                </a:solidFill>
                <a:latin typeface="Consolas"/>
              </a:rPr>
              <a:t>2020 → 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1" y="2331720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Redux Toolkit (RTK)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1" y="2834639"/>
            <a:ext cx="213969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B8C0CC"/>
                </a:solidFill>
                <a:latin typeface="Helvetica Neue"/>
              </a:rPr>
              <a:t>createSlice trimmed the boilerplate. But you still opt into Redux to use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2151" y="3977639"/>
            <a:ext cx="2139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8B95A1"/>
                </a:solidFill>
                <a:latin typeface="Helvetica Neue"/>
              </a:rPr>
              <a:t>Better. Still overkill for most apps.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1874519"/>
            <a:ext cx="2468880" cy="2606040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5DB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99631" y="2020824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DBABA"/>
                </a:solidFill>
                <a:latin typeface="Consolas"/>
              </a:rPr>
              <a:t>2024 → today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1" y="2331720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Zustand  ·  Jotai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1" y="2834639"/>
            <a:ext cx="213969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B8C0CC"/>
                </a:solidFill>
                <a:latin typeface="Helvetica Neue"/>
              </a:rPr>
              <a:t>Tiny stores, no providers, no actions, no dispatch. Zustand ~1 KB. Jotai is atom-based.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1" y="3977639"/>
            <a:ext cx="2139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8B95A1"/>
                </a:solidFill>
                <a:latin typeface="Helvetica Neue"/>
              </a:rPr>
              <a:t>What we use today.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617720"/>
            <a:ext cx="7863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8B95A1"/>
                </a:solidFill>
                <a:latin typeface="Helvetica Neue"/>
              </a:rPr>
              <a:t>Plus — most apps need less client state than you'd guess. </a:t>
            </a:r>
            <a:r>
              <a:rPr sz="1100" b="1" i="1">
                <a:solidFill>
                  <a:srgbClr val="5DBABA"/>
                </a:solidFill>
                <a:latin typeface="Helvetica Neue"/>
              </a:rPr>
              <a:t>Server state is a separate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DBABA"/>
                </a:solidFill>
                <a:latin typeface="Consolas"/>
              </a:rPr>
              <a:t>// SERVER  vs  CLIENT 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Server state ≠ client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DBABA"/>
                </a:solidFill>
                <a:latin typeface="Consolas"/>
              </a:rPr>
              <a:t>THE LABORATORY OF SPEED  ·  #LINKTHEWORLD  ·  linkecu.com</a:t>
            </a:r>
          </a:p>
        </p:txBody>
      </p:sp>
      <p:pic>
        <p:nvPicPr>
          <p:cNvPr id="13" name="Picture 12" descr="lin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1874519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 Neue"/>
              </a:rPr>
              <a:t>Client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74519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 Neue"/>
              </a:rPr>
              <a:t>Server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77440"/>
            <a:ext cx="374903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useState / useReducer for ephemeral UI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Zustand or Jotai for global, when actually needed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Most of it just lives in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77440"/>
            <a:ext cx="39319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TanStack Query for anything from a server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Caching, refetching, retries, dedupe — free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300" b="0" i="0">
                <a:solidFill>
                  <a:srgbClr val="B8C0CC"/>
                </a:solidFill>
                <a:latin typeface="Helvetica Neue"/>
              </a:rPr>
              <a:t>Loading, error, empty — first-class UI states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77639"/>
            <a:ext cx="3840480" cy="713232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5DB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041648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DBABA"/>
                </a:solidFill>
                <a:latin typeface="Consolas"/>
              </a:rPr>
              <a:t>// NO AXIOS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51959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B8C0CC"/>
                </a:solidFill>
                <a:latin typeface="Helvetica Neue"/>
              </a:rPr>
              <a:t>Native </a:t>
            </a:r>
            <a:r>
              <a:rPr sz="1100" b="1" i="0">
                <a:solidFill>
                  <a:srgbClr val="5DBABA"/>
                </a:solidFill>
                <a:latin typeface="Consolas"/>
              </a:rPr>
              <a:t>fetch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 + Query own retries, caching, dedupe. Smaller bundle, fewer deps.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3977639"/>
            <a:ext cx="3840480" cy="713232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5DB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80" y="4041648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DBABA"/>
                </a:solidFill>
                <a:latin typeface="Consolas"/>
              </a:rPr>
              <a:t>// DEV LOOP  ·  ngrok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251959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5DBABA"/>
                </a:solidFill>
                <a:latin typeface="Consolas"/>
              </a:rPr>
              <a:t>ngrok http 4000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  →  public tunnel.  </a:t>
            </a:r>
            <a:r>
              <a:rPr sz="1100" b="1" i="0">
                <a:solidFill>
                  <a:srgbClr val="5DBABA"/>
                </a:solidFill>
                <a:latin typeface="Consolas"/>
              </a:rPr>
              <a:t>127.0.0.1:4040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  =  live request inspector.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DBABA"/>
                </a:solidFill>
                <a:latin typeface="Consolas"/>
              </a:rPr>
              <a:t>// PERSISTENT 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680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Two stores. No SQLite.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Helvetica Neue"/>
              </a:rPr>
              <a:t>react-native-mmkv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374903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200" b="0" i="0">
                <a:solidFill>
                  <a:srgbClr val="B8C0CC"/>
                </a:solidFill>
                <a:latin typeface="Helvetica Neue"/>
              </a:rPr>
              <a:t>Microsecond-fast, synchronous KV</a:t>
            </a:r>
          </a:p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200" b="0" i="0">
                <a:solidFill>
                  <a:srgbClr val="B8C0CC"/>
                </a:solidFill>
                <a:latin typeface="Helvetica Neue"/>
              </a:rPr>
              <a:t>WeChat-grade — battle-tested at scale</a:t>
            </a:r>
          </a:p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200" b="0" i="0">
                <a:solidFill>
                  <a:srgbClr val="B8C0CC"/>
                </a:solidFill>
                <a:latin typeface="Helvetica Neue"/>
              </a:rPr>
              <a:t>Drop-in replacement for AsyncStorage</a:t>
            </a:r>
          </a:p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200" b="0" i="0">
                <a:solidFill>
                  <a:srgbClr val="B8C0CC"/>
                </a:solidFill>
                <a:latin typeface="Helvetica Neue"/>
              </a:rPr>
              <a:t>Use for: prefs, cached payloads,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874519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Helvetica Neue"/>
              </a:rPr>
              <a:t>expo-secure-store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377440"/>
            <a:ext cx="3931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200" b="0" i="0">
                <a:solidFill>
                  <a:srgbClr val="B8C0CC"/>
                </a:solidFill>
                <a:latin typeface="Helvetica Neue"/>
              </a:rPr>
              <a:t>Encrypted KV — iOS Keychain / Android Keystore</a:t>
            </a:r>
          </a:p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200" b="0" i="0">
                <a:solidFill>
                  <a:srgbClr val="B8C0CC"/>
                </a:solidFill>
                <a:latin typeface="Helvetica Neue"/>
              </a:rPr>
              <a:t>Anything sensitive stays out of MMKV</a:t>
            </a:r>
          </a:p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200" b="0" i="0">
                <a:solidFill>
                  <a:srgbClr val="B8C0CC"/>
                </a:solidFill>
                <a:latin typeface="Helvetica Neue"/>
              </a:rPr>
              <a:t>Use for: auth tokens, refresh tokens, OAuth keys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23360"/>
            <a:ext cx="7863840" cy="658368"/>
          </a:xfrm>
          <a:prstGeom prst="roundRect">
            <a:avLst>
              <a:gd name="adj" fmla="val 8000"/>
            </a:avLst>
          </a:prstGeom>
          <a:solidFill>
            <a:srgbClr val="242935"/>
          </a:solidFill>
          <a:ln w="9525">
            <a:solidFill>
              <a:srgbClr val="5DB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09651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DBABA"/>
                </a:solidFill>
                <a:latin typeface="Consolas"/>
              </a:rPr>
              <a:t>// WHY NOT 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7589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B8C0CC"/>
                </a:solidFill>
                <a:latin typeface="Helvetica Neue"/>
              </a:rPr>
              <a:t>Schemas and migrations turn every change into a careful operation. Few client apps need joins. </a:t>
            </a:r>
            <a:r>
              <a:rPr sz="1200" b="1" i="0">
                <a:solidFill>
                  <a:srgbClr val="FFFFFF"/>
                </a:solidFill>
                <a:latin typeface="Helvetica Neue"/>
              </a:rPr>
              <a:t>Add SQLite later if you genuinely need a query layer — until then, MMKV.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DBABA"/>
                </a:solidFill>
                <a:latin typeface="Consolas"/>
              </a:rPr>
              <a:t>THE LABORATORY OF SPEED  ·  #LINKTHEWORLD  ·  linkecu.com</a:t>
            </a:r>
          </a:p>
        </p:txBody>
      </p:sp>
      <p:pic>
        <p:nvPicPr>
          <p:cNvPr id="13" name="Picture 12" descr="lin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DBABA"/>
                </a:solidFill>
                <a:latin typeface="Consolas"/>
              </a:rPr>
              <a:t>//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680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React Hook Form  +  Zod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4663440" cy="2788920"/>
          </a:xfrm>
          <a:prstGeom prst="roundRect">
            <a:avLst>
              <a:gd name="adj" fmla="val 6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29768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5A1"/>
                </a:solidFill>
                <a:latin typeface="Consolas"/>
              </a:rPr>
              <a:t>const </a:t>
            </a:r>
            <a:r>
              <a:rPr sz="1100" b="1" i="0">
                <a:solidFill>
                  <a:srgbClr val="FFFFFF"/>
                </a:solidFill>
                <a:latin typeface="Consolas"/>
              </a:rPr>
              <a:t>SignUpSchema</a:t>
            </a:r>
            <a:r>
              <a:rPr sz="1100" b="0" i="0">
                <a:solidFill>
                  <a:srgbClr val="8B95A1"/>
                </a:solidFill>
                <a:latin typeface="Consolas"/>
              </a:rPr>
              <a:t> = </a:t>
            </a:r>
            <a:r>
              <a:rPr sz="1100" b="1" i="0">
                <a:solidFill>
                  <a:srgbClr val="5DBABA"/>
                </a:solidFill>
                <a:latin typeface="Consolas"/>
              </a:rPr>
              <a:t>z</a:t>
            </a:r>
            <a:r>
              <a:rPr sz="1100" b="0" i="0">
                <a:solidFill>
                  <a:srgbClr val="B8C0CC"/>
                </a:solidFill>
                <a:latin typeface="Consolas"/>
              </a:rPr>
              <a:t>.object({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  email: </a:t>
            </a:r>
            <a:r>
              <a:rPr sz="1100" b="1" i="0">
                <a:solidFill>
                  <a:srgbClr val="5DBABA"/>
                </a:solidFill>
                <a:latin typeface="Consolas"/>
              </a:rPr>
              <a:t>z</a:t>
            </a:r>
            <a:r>
              <a:rPr sz="1100" b="0" i="0">
                <a:solidFill>
                  <a:srgbClr val="B8C0CC"/>
                </a:solidFill>
                <a:latin typeface="Consolas"/>
              </a:rPr>
              <a:t>.string().email(),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  password: </a:t>
            </a:r>
            <a:r>
              <a:rPr sz="1100" b="1" i="0">
                <a:solidFill>
                  <a:srgbClr val="5DBABA"/>
                </a:solidFill>
                <a:latin typeface="Consolas"/>
              </a:rPr>
              <a:t>z</a:t>
            </a:r>
            <a:r>
              <a:rPr sz="1100" b="0" i="0">
                <a:solidFill>
                  <a:srgbClr val="B8C0CC"/>
                </a:solidFill>
                <a:latin typeface="Consolas"/>
              </a:rPr>
              <a:t>.string().min(8),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8C0CC"/>
                </a:solidFill>
                <a:latin typeface="Consolas"/>
              </a:rPr>
              <a:t>});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5A1"/>
                </a:solidFill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5A1"/>
                </a:solidFill>
                <a:latin typeface="Consolas"/>
              </a:rPr>
              <a:t>type </a:t>
            </a:r>
            <a:r>
              <a:rPr sz="1100" b="1" i="0">
                <a:solidFill>
                  <a:srgbClr val="FFFFFF"/>
                </a:solidFill>
                <a:latin typeface="Consolas"/>
              </a:rPr>
              <a:t>SignUpForm</a:t>
            </a:r>
            <a:r>
              <a:rPr sz="1100" b="0" i="0">
                <a:solidFill>
                  <a:srgbClr val="8B95A1"/>
                </a:solidFill>
                <a:latin typeface="Consolas"/>
              </a:rPr>
              <a:t> = </a:t>
            </a:r>
            <a:r>
              <a:rPr sz="1100" b="1" i="0">
                <a:solidFill>
                  <a:srgbClr val="5DBABA"/>
                </a:solidFill>
                <a:latin typeface="Consolas"/>
              </a:rPr>
              <a:t>z</a:t>
            </a:r>
            <a:r>
              <a:rPr sz="1100" b="0" i="0">
                <a:solidFill>
                  <a:srgbClr val="B8C0CC"/>
                </a:solidFill>
                <a:latin typeface="Consolas"/>
              </a:rPr>
              <a:t>.infer&lt;typeof SignUpSchema&gt;;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5A1"/>
                </a:solidFill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8C0CC"/>
                </a:solidFill>
                <a:latin typeface="Consolas"/>
              </a:rPr>
              <a:t>const { register, formState } = </a:t>
            </a:r>
            <a:r>
              <a:rPr sz="1100" b="1" i="0">
                <a:solidFill>
                  <a:srgbClr val="5DBABA"/>
                </a:solidFill>
                <a:latin typeface="Consolas"/>
              </a:rPr>
              <a:t>useForm</a:t>
            </a:r>
            <a:r>
              <a:rPr sz="1100" b="0" i="0">
                <a:solidFill>
                  <a:srgbClr val="B8C0CC"/>
                </a:solidFill>
                <a:latin typeface="Consolas"/>
              </a:rPr>
              <a:t>&lt;SignUpForm&gt;({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8C0CC"/>
                </a:solidFill>
                <a:latin typeface="Consolas"/>
              </a:rPr>
              <a:t>  resolver: </a:t>
            </a:r>
            <a:r>
              <a:rPr sz="1100" b="1" i="0">
                <a:solidFill>
                  <a:srgbClr val="5DBABA"/>
                </a:solidFill>
                <a:latin typeface="Consolas"/>
              </a:rPr>
              <a:t>zodResolver</a:t>
            </a:r>
            <a:r>
              <a:rPr sz="1100" b="0" i="0">
                <a:solidFill>
                  <a:srgbClr val="B8C0CC"/>
                </a:solidFill>
                <a:latin typeface="Consolas"/>
              </a:rPr>
              <a:t>(SignUpSchema),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8C0CC"/>
                </a:solidFill>
                <a:latin typeface="Consolas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874519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</a:rPr>
              <a:t>Why this combo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2377440"/>
            <a:ext cx="315468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Zod schema = single source of truth</a:t>
            </a:r>
          </a:p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Types via `z.infer` — no duplicate type</a:t>
            </a:r>
          </a:p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RHF — uncontrolled, minimal re-renders</a:t>
            </a:r>
          </a:p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Validation errors flow into the UI</a:t>
            </a:r>
          </a:p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5DBABA"/>
                </a:solidFill>
                <a:latin typeface="Helvetica Neue"/>
              </a:rPr>
              <a:t>•  </a:t>
            </a:r>
            <a:r>
              <a:rPr sz="1100" b="0" i="0">
                <a:solidFill>
                  <a:srgbClr val="B8C0CC"/>
                </a:solidFill>
                <a:latin typeface="Helvetica Neue"/>
              </a:rPr>
              <a:t>Same schema validates the API payload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DBABA"/>
                </a:solidFill>
                <a:latin typeface="Consolas"/>
              </a:rPr>
              <a:t>THE LABORATORY OF SPEED  ·  #LINKTHEWORLD  ·  linkecu.com</a:t>
            </a:r>
          </a:p>
        </p:txBody>
      </p:sp>
      <p:pic>
        <p:nvPicPr>
          <p:cNvPr id="10" name="Picture 9" descr="lin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 w="12700">
            <a:solidFill>
              <a:srgbClr val="5D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WHEN A LIB BREAKS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Patch dependencies, don’t fork them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workflow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 </a:t>
            </a:r>
            <a:r>
              <a:rPr lang="en-US" sz="13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an existing issue — or open one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 </a:t>
            </a:r>
            <a:r>
              <a:rPr lang="en-US" sz="13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`bun patch &lt;pkg&gt;`  →  edit files in node_modules  →  `bun patch --commit &lt;pkg&gt;`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 </a:t>
            </a:r>
            <a:r>
              <a:rPr lang="en-US" sz="1300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Commit `patches/&lt;pkg&gt;.patch` — Bun pins it via `patchedDependencies`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this repo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46320" y="23317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42935"/>
          </a:solidFill>
          <a:ln w="9525">
            <a:solidFill>
              <a:srgbClr val="3A41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2423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"patchedDependencies":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"react-native-screens@4.23.0":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"patches/react-native-screens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@4.23.0.patch"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>
            <a:hlinkClick r:id="" action="ppaction://noaction"/>
          </p:cNvPr>
          <p:cNvSpPr/>
          <p:nvPr/>
        </p:nvSpPr>
        <p:spPr>
          <a:xfrm>
            <a:off x="484632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</a:t>
            </a:r>
            <a:r>
              <a:rPr lang="en-US" sz="1100" u="sng" dirty="0">
                <a:solidFill>
                  <a:srgbClr val="B8C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react-native-screens</a:t>
            </a:r>
            <a:r>
              <a:rPr lang="en-US" sz="1100" u="sng" dirty="0">
                <a:solidFill>
                  <a:srgbClr val="8B95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</a:t>
            </a:r>
            <a:r>
              <a:rPr lang="en-US" sz="1100" u="sng" dirty="0">
                <a:solidFill>
                  <a:srgbClr val="5DBA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issue #3758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B95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stay on the official package + version. Upgrade later by re-running the patch against the new source.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5DB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LABORATORY OF SPEED  ·  #LINKTHEWORLD  ·  linkecu.com</a:t>
            </a:r>
            <a:endParaRPr lang="en-US" sz="900" dirty="0"/>
          </a:p>
        </p:txBody>
      </p:sp>
      <p:pic>
        <p:nvPicPr>
          <p:cNvPr id="13" name="Picture 12" descr="lin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DBABA"/>
                </a:solidFill>
                <a:latin typeface="Consolas"/>
              </a:rPr>
              <a:t>// ONE MORE THING  · 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Don't be patient zero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794760" cy="1280160"/>
          </a:xfrm>
          <a:prstGeom prst="roundRect">
            <a:avLst>
              <a:gd name="adj" fmla="val 7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066544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68A6F"/>
                </a:solidFill>
                <a:latin typeface="Consolas"/>
              </a:rPr>
              <a:t>31 MAR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40864"/>
            <a:ext cx="3429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nsolas"/>
              </a:rPr>
              <a:t>axios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70048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B8C0CC"/>
                </a:solidFill>
                <a:latin typeface="Helvetica Neue"/>
              </a:rPr>
              <a:t>Maintainer account compromised. Malicious release shipped to the npm registry.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920240"/>
            <a:ext cx="3794760" cy="1280160"/>
          </a:xfrm>
          <a:prstGeom prst="roundRect">
            <a:avLst>
              <a:gd name="adj" fmla="val 7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2066544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68A6F"/>
                </a:solidFill>
                <a:latin typeface="Consolas"/>
              </a:rPr>
              <a:t>11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340864"/>
            <a:ext cx="3429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nsolas"/>
              </a:rPr>
              <a:t>@tanstack/react-query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670048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B8C0CC"/>
                </a:solidFill>
                <a:latin typeface="Helvetica Neue"/>
              </a:rPr>
              <a:t>Same playbook. Same registry. Six weeks later.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DBABA"/>
                </a:solidFill>
                <a:latin typeface="Consolas"/>
              </a:rPr>
              <a:t>// THE 30-SECOND FIX  ·  minimum release 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75888"/>
            <a:ext cx="7863840" cy="960120"/>
          </a:xfrm>
          <a:prstGeom prst="roundRect">
            <a:avLst>
              <a:gd name="adj" fmla="val 7000"/>
            </a:avLst>
          </a:prstGeom>
          <a:solidFill>
            <a:srgbClr val="242935"/>
          </a:solidFill>
          <a:ln w="9525">
            <a:solidFill>
              <a:srgbClr val="3A4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7406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8B95A1"/>
                </a:solidFill>
                <a:latin typeface="Consolas"/>
              </a:rPr>
              <a:t># bunfig.toml  —  pnpm, yarn, npm have the same knob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[install]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8B95A1"/>
                </a:solidFill>
                <a:latin typeface="Consolas"/>
              </a:rPr>
              <a:t># Wait before installing fresh releases.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minimumReleaseAge </a:t>
            </a:r>
            <a:r>
              <a:rPr sz="1200" b="0" i="0">
                <a:solidFill>
                  <a:srgbClr val="8B95A1"/>
                </a:solidFill>
                <a:latin typeface="Consolas"/>
              </a:rPr>
              <a:t>= </a:t>
            </a:r>
            <a:r>
              <a:rPr sz="1200" b="1" i="0">
                <a:solidFill>
                  <a:srgbClr val="5DBABA"/>
                </a:solidFill>
                <a:latin typeface="Consolas"/>
              </a:rPr>
              <a:t>86400</a:t>
            </a:r>
            <a:r>
              <a:rPr sz="1200" b="0" i="0">
                <a:solidFill>
                  <a:srgbClr val="8B95A1"/>
                </a:solidFill>
                <a:latin typeface="Consolas"/>
              </a:rPr>
              <a:t>   </a:t>
            </a:r>
            <a:r>
              <a:rPr sz="1200" b="1" i="0">
                <a:solidFill>
                  <a:srgbClr val="8B95A1"/>
                </a:solidFill>
                <a:latin typeface="Consolas"/>
              </a:rPr>
              <a:t># seconds (24 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451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B8C0CC"/>
                </a:solidFill>
                <a:latin typeface="Helvetica Neue"/>
              </a:rPr>
              <a:t>Pin the floor. Let the community catch bad releases first.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DBABA"/>
                </a:solidFill>
                <a:latin typeface="Consolas"/>
              </a:rPr>
              <a:t>THE LABORATORY OF SPEED  ·  #LINKTHEWORLD  ·  linkecu.com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777240"/>
            <a:ext cx="41148" cy="960120"/>
          </a:xfrm>
          <a:prstGeom prst="rect">
            <a:avLst/>
          </a:prstGeom>
          <a:solidFill>
            <a:srgbClr val="5D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DBABA"/>
                </a:solidFill>
                <a:latin typeface="Consolas"/>
              </a:rPr>
              <a:t>// THANKS  · 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Three habits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5DBABA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05740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 Neue"/>
              </a:rPr>
              <a:t>Read every diff Claude writes.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5DBABA"/>
                </a:solidFill>
                <a:latin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74320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 Neue"/>
              </a:rPr>
              <a:t>Ask it to explain its choices.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5DBABA"/>
                </a:solidFill>
                <a:latin typeface="Consola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2900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 Neue"/>
              </a:rPr>
              <a:t>Treat it as a mentor who can be wrong.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B8C0CC"/>
                </a:solidFill>
                <a:latin typeface="Consolas"/>
              </a:rPr>
              <a:t>github.com/</a:t>
            </a:r>
            <a:r>
              <a:rPr sz="1300" b="1" i="0">
                <a:solidFill>
                  <a:srgbClr val="FFFFFF"/>
                </a:solidFill>
                <a:latin typeface="Consolas"/>
              </a:rPr>
              <a:t>ShaneZhengNZ</a:t>
            </a:r>
            <a:r>
              <a:rPr sz="1300" b="0" i="0">
                <a:solidFill>
                  <a:srgbClr val="B8C0CC"/>
                </a:solidFill>
                <a:latin typeface="Consolas"/>
              </a:rPr>
              <a:t>/2026-RN-Talk</a:t>
            </a:r>
            <a:r>
              <a:rPr sz="1300" b="1" i="0">
                <a:solidFill>
                  <a:srgbClr val="5DBABA"/>
                </a:solidFill>
                <a:latin typeface="Helvetica Neue"/>
              </a:rPr>
              <a:t>        ·        </a:t>
            </a:r>
            <a:r>
              <a:rPr sz="1300" b="0" i="0">
                <a:solidFill>
                  <a:srgbClr val="B8C0CC"/>
                </a:solidFill>
                <a:latin typeface="Consolas"/>
              </a:rPr>
              <a:t>linkedin.com/in/delpielo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8B95A1"/>
                </a:solidFill>
                <a:latin typeface="Helvetica Neue"/>
              </a:rPr>
              <a:t>AI doesn’t replace senior engineers. It makes more senior engineers, faster — if you stay in the loop.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20040"/>
            <a:ext cx="86868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DBABA"/>
                </a:solidFill>
                <a:latin typeface="Consolas"/>
              </a:rPr>
              <a:t>THE LABORATORY OF SPEED  ·  #LINKTHEWORLD  ·  linkecu.com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2389</Words>
  <Application>Microsoft Macintosh PowerPoint</Application>
  <PresentationFormat>On-screen Show (16:9)</PresentationFormat>
  <Paragraphs>357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Consolas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React Native in 60 Minutes</dc:title>
  <dc:subject>PptxGenJS Presentation</dc:subject>
  <dc:creator>Shane Zheng</dc:creator>
  <cp:lastModifiedBy>Shane Zheng</cp:lastModifiedBy>
  <cp:revision>4</cp:revision>
  <dcterms:created xsi:type="dcterms:W3CDTF">2026-05-19T11:56:07Z</dcterms:created>
  <dcterms:modified xsi:type="dcterms:W3CDTF">2026-05-20T09:53:23Z</dcterms:modified>
</cp:coreProperties>
</file>